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62" r:id="rId7"/>
    <p:sldId id="258" r:id="rId8"/>
    <p:sldId id="259" r:id="rId9"/>
    <p:sldId id="264" r:id="rId10"/>
    <p:sldId id="265" r:id="rId11"/>
    <p:sldId id="260" r:id="rId12"/>
    <p:sldId id="263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EC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14F9E-1151-441B-BAA6-7DD01016DB2A}" type="datetimeFigureOut">
              <a:rPr lang="en-150" smtClean="0"/>
              <a:t>05/20/2026</a:t>
            </a:fld>
            <a:endParaRPr lang="en-15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15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B6F0A-3CED-4195-AD7C-F8D24BD7611A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143449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48E19-BB61-767A-DCFC-36BB6C8D18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51330" y="2159898"/>
            <a:ext cx="7071360" cy="1083860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Titlu</a:t>
            </a:r>
            <a:r>
              <a:rPr lang="en-US" dirty="0"/>
              <a:t> </a:t>
            </a:r>
            <a:r>
              <a:rPr lang="en-US" dirty="0" err="1"/>
              <a:t>prezentare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27AC8-0CF7-E843-7442-9BC7B54773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1329" y="3367773"/>
            <a:ext cx="8545295" cy="190194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Nume</a:t>
            </a:r>
            <a:r>
              <a:rPr lang="en-US" dirty="0"/>
              <a:t> </a:t>
            </a:r>
            <a:r>
              <a:rPr lang="en-US" dirty="0" err="1"/>
              <a:t>Prezentator</a:t>
            </a:r>
            <a:endParaRPr lang="en-US" dirty="0"/>
          </a:p>
          <a:p>
            <a:r>
              <a:rPr lang="en-US" dirty="0" err="1"/>
              <a:t>Afiliere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Manifestare</a:t>
            </a:r>
            <a:r>
              <a:rPr lang="en-US" dirty="0"/>
              <a:t> (e.g. </a:t>
            </a:r>
            <a:r>
              <a:rPr lang="en-US" dirty="0" err="1"/>
              <a:t>Adunare</a:t>
            </a:r>
            <a:r>
              <a:rPr lang="en-US" dirty="0"/>
              <a:t> General</a:t>
            </a:r>
            <a:r>
              <a:rPr lang="ro-RO" dirty="0"/>
              <a:t>ă, Workshop, etc)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0CD7F-3E8B-8A3B-3846-BBF8C0E778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57474" y="5902563"/>
            <a:ext cx="116332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F0E1C2BF-5D31-4AFD-97FD-FEF3E2D992C7}" type="datetime1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018EE-CDB5-FDC0-3BBA-33092AB3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19213" y="5902563"/>
            <a:ext cx="5313841" cy="365124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B4AE9-FA74-AB2F-8988-65A1A875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2814" y="5902561"/>
            <a:ext cx="116332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69C3A544-B92C-4C3D-9202-845B9C56522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39F44D-0994-DD54-AEC4-F803495D08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86109" y="304105"/>
            <a:ext cx="1299154" cy="1284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2B5A43-0E47-22AF-BCFB-E8AC1D22D2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3817" y="5588674"/>
            <a:ext cx="1595238" cy="9555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CE1B43-36DB-A426-6762-2826CA196A2E}"/>
              </a:ext>
            </a:extLst>
          </p:cNvPr>
          <p:cNvSpPr txBox="1"/>
          <p:nvPr userDrawn="1"/>
        </p:nvSpPr>
        <p:spPr>
          <a:xfrm>
            <a:off x="2551330" y="1515226"/>
            <a:ext cx="3748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o-RO" sz="1800" b="1" dirty="0">
                <a:solidFill>
                  <a:schemeClr val="tx1"/>
                </a:solidFill>
                <a:effectLst/>
                <a:latin typeface="+mj-lt"/>
                <a:ea typeface="Calibri Light" panose="020F0302020204030204" pitchFamily="34" charset="0"/>
              </a:rPr>
              <a:t>HUB Român de Inteligență Artificială</a:t>
            </a:r>
            <a:endParaRPr lang="en-US" sz="1800" b="1" dirty="0">
              <a:solidFill>
                <a:schemeClr val="tx1"/>
              </a:solidFill>
              <a:effectLst/>
              <a:latin typeface="+mj-lt"/>
              <a:ea typeface="Calibri Light" panose="020F0302020204030204" pitchFamily="34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effectLst/>
                <a:latin typeface="+mj-lt"/>
                <a:ea typeface="Calibri Light" panose="020F0302020204030204" pitchFamily="34" charset="0"/>
              </a:rPr>
              <a:t>cod SMIS: 334906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26D031-EC8F-B57E-A2E7-60B6C20D0F2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37002" y="404605"/>
            <a:ext cx="4380658" cy="98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894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4C4C-B02C-4EAA-FC37-2D7631325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38199"/>
            <a:ext cx="9753600" cy="1190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81684-E09E-5EE8-C079-D05CB1DC1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708475"/>
            <a:ext cx="9753600" cy="34684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D0FE7-61FA-6DCE-B85C-1349F0AF78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9199" y="6356350"/>
            <a:ext cx="979991" cy="333817"/>
          </a:xfrm>
        </p:spPr>
        <p:txBody>
          <a:bodyPr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fld id="{B64F81E1-ADEA-4A61-8960-B9776704775B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1A37-0D3D-B1A5-CD22-2E444C928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03506" y="6356350"/>
            <a:ext cx="2971801" cy="333817"/>
          </a:xfrm>
        </p:spPr>
        <p:txBody>
          <a:bodyPr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AF7A1-FFA8-F14D-1D2C-6DBBB5A2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9" y="6356350"/>
            <a:ext cx="1981201" cy="33381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C3A544-B92C-4C3D-9202-845B9C56522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74CAC4-67F9-DB0B-E87D-E3FFB534D4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1575" y="203264"/>
            <a:ext cx="1595238" cy="9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536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227E-3BDC-B626-C543-96B7FA2B8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100" y="2838450"/>
            <a:ext cx="8642349" cy="1724025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37FC6-BF57-2725-561D-C0B329BED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05100" y="4589463"/>
            <a:ext cx="8642350" cy="10874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389CF9B-D429-BD47-F611-18F8E3EB9C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05100" y="5902563"/>
            <a:ext cx="116332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F0E1C2BF-5D31-4AFD-97FD-FEF3E2D992C7}" type="datetime1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7FBDF8C-F5C3-E6E9-B7EC-F5E0C029A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3294" y="5902563"/>
            <a:ext cx="5313841" cy="365124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497BB1-61E1-DC7D-59DB-328DC7702A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82087" y="1682750"/>
            <a:ext cx="1595238" cy="9555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0EC9F6-59B3-6F40-8A01-95A5408DC9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37002" y="404605"/>
            <a:ext cx="4380658" cy="9866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1D7C4C-9ABE-868C-EBD9-57EADC43B9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86109" y="304105"/>
            <a:ext cx="1299154" cy="12841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265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35779-AFF4-9594-B0B8-078CD4059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38199"/>
            <a:ext cx="9753600" cy="9208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E6F63-7DAA-A733-8216-4ECBB5D43E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198" y="2438399"/>
            <a:ext cx="4800601" cy="3738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C44EE-67B8-0609-D2D2-6FDE09761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4800600" cy="3738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F7D7DFF-6ADC-112B-F9BE-89DDBFFC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9199" y="6356350"/>
            <a:ext cx="979991" cy="333817"/>
          </a:xfrm>
        </p:spPr>
        <p:txBody>
          <a:bodyPr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fld id="{B64F81E1-ADEA-4A61-8960-B9776704775B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F3C2C89-745F-3BA7-E11E-986C34303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03506" y="6356350"/>
            <a:ext cx="2971801" cy="333817"/>
          </a:xfrm>
        </p:spPr>
        <p:txBody>
          <a:bodyPr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BB92CC0-2780-3425-CB7D-B8C19029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9" y="6356350"/>
            <a:ext cx="1981201" cy="33381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C3A544-B92C-4C3D-9202-845B9C56522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FD1501-1AF6-1570-66B1-0943F9EFB0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1575" y="203264"/>
            <a:ext cx="1595238" cy="9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782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18047A8-394F-F432-4DC8-96337A9C24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9199" y="6356350"/>
            <a:ext cx="979991" cy="333817"/>
          </a:xfrm>
        </p:spPr>
        <p:txBody>
          <a:bodyPr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fld id="{B64F81E1-ADEA-4A61-8960-B9776704775B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9F3028-C0AE-6682-19EA-6C69DF4AB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03506" y="6356350"/>
            <a:ext cx="2971801" cy="333817"/>
          </a:xfrm>
        </p:spPr>
        <p:txBody>
          <a:bodyPr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D7C0DF7-BDFE-50FE-5060-A8C7ED6A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9" y="6356350"/>
            <a:ext cx="1981201" cy="33381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C3A544-B92C-4C3D-9202-845B9C56522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61CCC9-08BF-A7CA-DE6D-6EBE27EA49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1575" y="203264"/>
            <a:ext cx="1595238" cy="9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71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31EC5-5F53-F37D-EBC6-C4EF90FE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1533524"/>
            <a:ext cx="3552826" cy="1647826"/>
          </a:xfrm>
        </p:spPr>
        <p:txBody>
          <a:bodyPr anchor="t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BF246C-7B3E-C650-A7EF-AF86E2059A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19675" y="1533524"/>
            <a:ext cx="5953125" cy="432752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55A07-0DE8-BA39-44B2-8F2B36E3E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276665"/>
            <a:ext cx="3552826" cy="2592322"/>
          </a:xfrm>
        </p:spPr>
        <p:txBody>
          <a:bodyPr anchor="t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2E53559C-2CA1-E443-2808-07E410B9EF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9199" y="6356350"/>
            <a:ext cx="979991" cy="333817"/>
          </a:xfrm>
        </p:spPr>
        <p:txBody>
          <a:bodyPr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fld id="{B64F81E1-ADEA-4A61-8960-B9776704775B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DD012F7-EF4C-DC8F-CE3A-81BA56DFD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03506" y="6356350"/>
            <a:ext cx="2971801" cy="333817"/>
          </a:xfrm>
        </p:spPr>
        <p:txBody>
          <a:bodyPr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25D146D-ED70-57D6-A2FE-B59C3F15B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9" y="6356350"/>
            <a:ext cx="1981201" cy="33381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C3A544-B92C-4C3D-9202-845B9C56522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A791C2-5609-B547-AB36-430B1F88BD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1575" y="203264"/>
            <a:ext cx="1595238" cy="9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063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AA8653-3E28-E7DE-3A41-9D8D73570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8F174-AE76-1687-3B0F-4FA50A22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1825625"/>
            <a:ext cx="9753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55133-134F-9ED4-B24B-2A277F7BF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7591" y="6356350"/>
            <a:ext cx="25444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59B27FAC-CCBA-4B2A-8B31-543BBCA32FB3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41524-81C3-06FB-3CD7-CDBB7BAF5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87687" y="6356350"/>
            <a:ext cx="38166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FCA87-750A-14EE-BDFF-4749FE90D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9991" y="6356350"/>
            <a:ext cx="25444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9C3A544-B92C-4C3D-9202-845B9C5652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76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  <p:sldLayoutId id="2147483657" r:id="rId6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EB2F-2B1A-58FA-11A5-0C6044BD9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1329" y="2307231"/>
            <a:ext cx="8150537" cy="85538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 does Unsupervised ML say? Clustering Virtual</a:t>
            </a:r>
            <a:r>
              <a:rPr lang="ro-RO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Reality Behavior for Typical and</a:t>
            </a:r>
            <a:r>
              <a:rPr lang="ro-RO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Physically Disabled Persons</a:t>
            </a:r>
            <a:endParaRPr lang="en-150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9DFB14-F5BD-E8DB-4E65-E9E9E246C6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o-RO" sz="20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Soos Kriszta</a:t>
            </a:r>
            <a:r>
              <a:rPr lang="ro-R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Frîncu Marc</a:t>
            </a:r>
          </a:p>
          <a:p>
            <a:r>
              <a:rPr lang="ro-R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West University of Timișoara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Fifth Serbian International Conference on Applied Artificial Intelligence 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(AAI2026)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F361D-098A-4485-2866-3966AE298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91FD4-0C01-4699-9082-9164131A61B2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FADE-7D5C-C42B-6F4D-1E3E70171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55737" y="6014984"/>
            <a:ext cx="5141720" cy="252704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Fifth Serbian International Conference on Applied Artificial Intelligence 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541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673B7D0-77F7-81EC-37D3-A201D1505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8" y="1113527"/>
            <a:ext cx="9753600" cy="760411"/>
          </a:xfrm>
        </p:spPr>
        <p:txBody>
          <a:bodyPr anchor="ctr">
            <a:normAutofit/>
          </a:bodyPr>
          <a:lstStyle/>
          <a:p>
            <a:pPr algn="ctr"/>
            <a:r>
              <a:rPr lang="ro-RO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lang="en-150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15DECDD-51AD-FC8E-5D91-F55A135F3A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196" y="2173178"/>
            <a:ext cx="9668935" cy="2057400"/>
          </a:xfr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0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VR Usage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VR uses 3D head-mounted displays and pose tracking to create </a:t>
            </a:r>
            <a:r>
              <a:rPr lang="en-US" sz="23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immersive experiences </a:t>
            </a:r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across entertainment, education, and medicine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Studies show VR </a:t>
            </a:r>
            <a:r>
              <a:rPr lang="en-US" sz="23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elicits neural responses </a:t>
            </a:r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comparable to real-world interactions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immersion levels correlate with better patient </a:t>
            </a:r>
            <a:r>
              <a:rPr lang="en-US" sz="23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recovery outcomes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VR serves as </a:t>
            </a:r>
            <a:r>
              <a:rPr lang="en-US" sz="23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non-intrusive and enjoyable tool </a:t>
            </a:r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motor rehabilitation and psychotherapy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E6F8B-7D1E-020F-DE5A-24C748846A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9199" y="6356350"/>
            <a:ext cx="979991" cy="33381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0DE8E58-CA2A-4EA3-9D53-EDB3CF6EF7ED}" type="datetime1">
              <a:rPr lang="en-US" smtClean="0"/>
              <a:pPr>
                <a:spcAft>
                  <a:spcPts val="600"/>
                </a:spcAft>
              </a:pPr>
              <a:t>5/20/2026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91F7BE-758A-DACC-13CD-1AA883B3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27306" y="6356350"/>
            <a:ext cx="4489961" cy="333817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Fifth Serbian International Conference on Applied Artificial Intelligence 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A1117E-2A4B-6F41-B52E-E154DD0B68B1}"/>
              </a:ext>
            </a:extLst>
          </p:cNvPr>
          <p:cNvSpPr/>
          <p:nvPr/>
        </p:nvSpPr>
        <p:spPr>
          <a:xfrm flipV="1">
            <a:off x="1261531" y="2522432"/>
            <a:ext cx="966893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FF6B2C-AE0D-9B55-F2EC-4FAED29BD13B}"/>
              </a:ext>
            </a:extLst>
          </p:cNvPr>
          <p:cNvSpPr/>
          <p:nvPr/>
        </p:nvSpPr>
        <p:spPr>
          <a:xfrm>
            <a:off x="1219198" y="1888067"/>
            <a:ext cx="97536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5F7C5DC7-9D35-3FCC-C40C-35E589C72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197" y="4230578"/>
            <a:ext cx="9753602" cy="1920246"/>
          </a:xfr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0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Study Aim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3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Investigate behavioral patterns </a:t>
            </a:r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VR and correlate them with motor disability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data from 19 participants across three distinct locomotion scenarios: controller-based, eye movement-based, and static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dimensionality reduction via PCA followed by unsupervised K-means clustering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Classify participants as typical or atypical based purely on their movement data, without clinical labels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71C3C1-2193-91CE-4210-01CC8E9A5317}"/>
              </a:ext>
            </a:extLst>
          </p:cNvPr>
          <p:cNvSpPr/>
          <p:nvPr/>
        </p:nvSpPr>
        <p:spPr>
          <a:xfrm flipV="1">
            <a:off x="1261531" y="4602691"/>
            <a:ext cx="966893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55336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B40A-2C5F-E98D-B680-89F12B3D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992" y="965199"/>
            <a:ext cx="10464802" cy="992883"/>
          </a:xfrm>
        </p:spPr>
        <p:txBody>
          <a:bodyPr>
            <a:normAutofit/>
          </a:bodyPr>
          <a:lstStyle/>
          <a:p>
            <a:pPr algn="ctr"/>
            <a:r>
              <a:rPr lang="ro-RO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Related Work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ACC0E-59B1-2F82-B5E2-CA00006AB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F81E1-ADEA-4A61-8960-B9776704775B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CC9B7-49BD-2BB9-3E03-4A5CB55D2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35245" y="6356350"/>
            <a:ext cx="5184226" cy="333817"/>
          </a:xfrm>
        </p:spPr>
        <p:txBody>
          <a:bodyPr/>
          <a:lstStyle/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Fifth Serbian International Conference on Applied Artificial Intelligence 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AD75B72-E49E-A4BB-34C9-C373A5E2982F}"/>
              </a:ext>
            </a:extLst>
          </p:cNvPr>
          <p:cNvGrpSpPr/>
          <p:nvPr/>
        </p:nvGrpSpPr>
        <p:grpSpPr>
          <a:xfrm>
            <a:off x="863599" y="2229240"/>
            <a:ext cx="10464802" cy="3474582"/>
            <a:chOff x="1279270" y="2686440"/>
            <a:chExt cx="10464802" cy="347458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270B9AA-5FF0-47AD-5CE5-61DA0F3D4E8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79270" y="2692535"/>
              <a:ext cx="2743200" cy="3468487"/>
              <a:chOff x="1219199" y="2708474"/>
              <a:chExt cx="2743200" cy="3468487"/>
            </a:xfrm>
          </p:grpSpPr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3A34711-6C94-7433-3ACD-3F7B4BD69C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199" y="2708474"/>
                <a:ext cx="2743200" cy="3468487"/>
              </a:xfrm>
              <a:prstGeom prst="rect">
                <a:avLst/>
              </a:prstGeom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ro-RO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68B2B2-25C3-DE9A-4F1A-324A302DFC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54663" y="3504298"/>
                <a:ext cx="24722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ASD vs. Typical Children</a:t>
                </a:r>
                <a:endParaRPr lang="ro-RO" sz="16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291157-EA02-747F-FEC4-5689993C3F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79270" y="4007137"/>
                <a:ext cx="2623062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16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Used multimodal CAVE-VR + Intel RealSense camera. Applied PCA + Euclidean distance for feature reduction. Classified behavior with SVM. Compared against traditional diagnostic testing.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6CEFDD7-763F-98B8-8CCF-D80CC162B1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2926" y="2970681"/>
                <a:ext cx="2135743" cy="36933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39700" prst="cross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Raya et al. (2020)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FCAB30E-0EDA-36D1-1615-3D510EEB374C}"/>
                </a:ext>
              </a:extLst>
            </p:cNvPr>
            <p:cNvGrpSpPr/>
            <p:nvPr/>
          </p:nvGrpSpPr>
          <p:grpSpPr>
            <a:xfrm>
              <a:off x="5140069" y="2686440"/>
              <a:ext cx="2750595" cy="3468487"/>
              <a:chOff x="5140069" y="2686440"/>
              <a:chExt cx="2750595" cy="3468487"/>
            </a:xfrm>
          </p:grpSpPr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FB138B02-068D-964F-CF44-C30784C3E5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47464" y="2686440"/>
                <a:ext cx="2743200" cy="3468487"/>
              </a:xfrm>
              <a:prstGeom prst="rect">
                <a:avLst/>
              </a:prstGeom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ro-RO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F172490-41DA-2761-5D91-625A31D0D7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15465" y="3504298"/>
                <a:ext cx="24722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ASD &amp; Mental Disorders</a:t>
                </a:r>
                <a:endParaRPr lang="ro-RO" sz="16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E1C7D7-6B77-CBBF-332C-7DA5FF54A9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40069" y="4001043"/>
                <a:ext cx="2623062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72 participants: typical, ASD, other disorders. Compared SVM, Decision Trees, and Random Forest. RF excelled at binary classification; DT at multi-class tasks. Same data-gathering technique as our study.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CC4779-EEA5-C349-5F5E-96CC31F21A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83728" y="2970681"/>
                <a:ext cx="21357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Vlasiu</a:t>
                </a:r>
                <a:r>
                  <a:rPr lang="en-US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et al. (2024)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B4D8191-55DD-599B-C776-731DFFFE3FB3}"/>
                </a:ext>
              </a:extLst>
            </p:cNvPr>
            <p:cNvGrpSpPr>
              <a:grpSpLocks/>
            </p:cNvGrpSpPr>
            <p:nvPr/>
          </p:nvGrpSpPr>
          <p:grpSpPr>
            <a:xfrm>
              <a:off x="9000872" y="2686441"/>
              <a:ext cx="2743200" cy="3468487"/>
              <a:chOff x="8940801" y="2702380"/>
              <a:chExt cx="2743200" cy="3468487"/>
            </a:xfrm>
          </p:grpSpPr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71DE4892-B52E-58E0-D1E6-0328532CA0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40801" y="2702380"/>
                <a:ext cx="2743200" cy="3468487"/>
              </a:xfrm>
              <a:prstGeom prst="rect">
                <a:avLst/>
              </a:prstGeom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ro-RO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38969D3-B1D2-A194-7824-610CFCBE66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76266" y="3504298"/>
                <a:ext cx="24722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16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Neurological Waves via BCI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670163-449E-3B8C-D7DF-94A39EA1B6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0872" y="4001043"/>
                <a:ext cx="2623062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Focused on brain-computer interface signals. Applied FFT and Autoregressive Coefficients. Classification via Linear Discriminant Analysis. Results validated through cross-validation.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D003C8E-BA30-F987-68FB-1CCE7CD4C0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30267" y="2832181"/>
                <a:ext cx="196426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Afdideh &amp; Shamsollahi(2025</a:t>
                </a:r>
                <a:r>
                  <a:rPr lang="en-US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</p:txBody>
          </p:sp>
        </p:grp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2029146C-EFA9-03AC-7F95-AB1C74904E88}"/>
              </a:ext>
            </a:extLst>
          </p:cNvPr>
          <p:cNvSpPr/>
          <p:nvPr/>
        </p:nvSpPr>
        <p:spPr>
          <a:xfrm>
            <a:off x="923668" y="1724278"/>
            <a:ext cx="10344664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2662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2BBC3-C06B-9C52-354F-A24226DA7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F1C8E6-E591-5744-67CA-2950C7F7A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160" y="1045888"/>
            <a:ext cx="9753600" cy="778519"/>
          </a:xfrm>
        </p:spPr>
        <p:txBody>
          <a:bodyPr>
            <a:normAutofit/>
          </a:bodyPr>
          <a:lstStyle/>
          <a:p>
            <a:pPr algn="ctr"/>
            <a:r>
              <a:rPr lang="ro-RO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Methodology</a:t>
            </a:r>
            <a:endParaRPr lang="en-150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C8F18D-1BEF-A307-2B71-EB14802C4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87475-4897-4FEA-B623-9640224CB74A}" type="datetime1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3DEEC2-0460-68A2-5FA6-6C3C81574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5040" y="6501785"/>
            <a:ext cx="5649894" cy="188382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Fifth Serbian International Conference on Applied Artificial Intelligence </a:t>
            </a:r>
          </a:p>
          <a:p>
            <a:endParaRPr lang="en-HU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1F4FBCA-1FF6-F81E-ED85-B1CD00546B1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538160" y="2251586"/>
            <a:ext cx="9561785" cy="3738565"/>
            <a:chOff x="1538160" y="2251586"/>
            <a:chExt cx="9561785" cy="373856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C4E40DE-6F36-D94B-06D8-D7FB95B08BE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538160" y="2251588"/>
              <a:ext cx="2613281" cy="3738563"/>
              <a:chOff x="519385" y="2287572"/>
              <a:chExt cx="2613281" cy="3738563"/>
            </a:xfrm>
          </p:grpSpPr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8DC1EE7D-72C6-E34E-0E07-AAF21919A6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>
                <p:ph sz="half" idx="1"/>
              </p:nvPr>
            </p:nvSpPr>
            <p:spPr>
              <a:xfrm>
                <a:off x="519385" y="2287572"/>
                <a:ext cx="2613281" cy="3738563"/>
              </a:xfrm>
              <a:solidFill>
                <a:srgbClr val="FFFFFF"/>
              </a:solidFill>
              <a:ln w="28575">
                <a:solidFill>
                  <a:schemeClr val="bg1">
                    <a:lumMod val="95000"/>
                  </a:schemeClr>
                </a:solidFill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Dataset </a:t>
                </a:r>
              </a:p>
              <a:p>
                <a:pPr marL="0" indent="0">
                  <a:buNone/>
                </a:pP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19 participants (5 with motor impairments)</a:t>
                </a:r>
              </a:p>
              <a:p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 VR scenarios per participant (randomized order)</a:t>
                </a:r>
              </a:p>
              <a:p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5 minutes per scenario</a:t>
                </a:r>
              </a:p>
              <a:p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Data: head position (x,y,z), rotation, forward direction, timestamps</a:t>
                </a:r>
              </a:p>
              <a:p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42 behavioral features extracted</a:t>
                </a:r>
              </a:p>
              <a:p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Stored as anonymized JSON files</a:t>
                </a:r>
              </a:p>
              <a:p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Ethics approved</a:t>
                </a:r>
                <a:r>
                  <a:rPr lang="en-US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informed consent obtained</a:t>
                </a:r>
              </a:p>
              <a:p>
                <a:pPr marL="0" indent="0">
                  <a:buNone/>
                </a:pPr>
                <a:endParaRPr lang="en-150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845B509-226D-D3F8-01FC-ECFC0D8A50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385" y="2700571"/>
                <a:ext cx="2613281" cy="4571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o-RO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F178097-F8C5-E246-6714-592A2EA9391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12412" y="2251587"/>
              <a:ext cx="2613282" cy="3738563"/>
              <a:chOff x="4479012" y="2263764"/>
              <a:chExt cx="2613282" cy="3738563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AD2053E-8468-0FB8-4435-02ABE059F62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79012" y="4892942"/>
                <a:ext cx="2613281" cy="292947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3500000" scaled="1"/>
                <a:tileRect/>
              </a:gra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o-RO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CDCECA2-C528-82B3-6387-105C4E2197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79013" y="3934578"/>
                <a:ext cx="2613281" cy="292947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3500000" scaled="1"/>
                <a:tileRect/>
              </a:gra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o-RO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1C5E312-D9CF-77ED-7750-7AF93433A8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79013" y="2985020"/>
                <a:ext cx="2613281" cy="292947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3500000" scaled="1"/>
                <a:tileRect/>
              </a:gra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o-RO"/>
              </a:p>
            </p:txBody>
          </p:sp>
          <p:sp>
            <p:nvSpPr>
              <p:cNvPr id="2" name="Content Placeholder 11">
                <a:extLst>
                  <a:ext uri="{FF2B5EF4-FFF2-40B4-BE49-F238E27FC236}">
                    <a16:creationId xmlns:a16="http://schemas.microsoft.com/office/drawing/2014/main" id="{B375658F-9D8C-68EB-DB9C-2478CD0FB928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79012" y="2263764"/>
                <a:ext cx="2613281" cy="3738563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Three VR Scenarios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4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Scenario A – Static</a:t>
                </a: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Head &amp; gaze only, no locomotion. Simulates immobility; tests attention &amp; frustration.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4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Scenario B – Gaze Navigation</a:t>
                </a: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Move by focusing gaze on blocks. Difficult for non-disabled; mirrors motor limits.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4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Scenario C – Controller</a:t>
                </a: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Standard VR controller. Free natural movement; baseline for healthy behavior.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150" dirty="0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F7B2533-17CA-9773-C69D-D35922A7669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79013" y="2705323"/>
                <a:ext cx="2613281" cy="45719"/>
              </a:xfrm>
              <a:prstGeom prst="rect">
                <a:avLst/>
              </a:prstGeom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o-RO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983D829-2B9E-35E3-B704-93EEEAC09AF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486664" y="2251586"/>
              <a:ext cx="2613281" cy="3738563"/>
              <a:chOff x="8040560" y="2275941"/>
              <a:chExt cx="2613281" cy="3738563"/>
            </a:xfrm>
          </p:grpSpPr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12DEB6B1-DF60-6F34-53BE-E91A6E59D41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>
                <p:ph sz="half" idx="2"/>
              </p:nvPr>
            </p:nvSpPr>
            <p:spPr>
              <a:xfrm>
                <a:off x="8040560" y="2275941"/>
                <a:ext cx="2613281" cy="3738563"/>
              </a:xfrm>
              <a:solidFill>
                <a:schemeClr val="bg1"/>
              </a:solidFill>
              <a:ln w="28575">
                <a:solidFill>
                  <a:schemeClr val="bg1">
                    <a:lumMod val="95000"/>
                  </a:schemeClr>
                </a:solidFill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ML Pipeline</a:t>
                </a:r>
              </a:p>
              <a:p>
                <a:pPr marL="0" indent="0">
                  <a:buNone/>
                </a:pPr>
                <a:endParaRPr lang="en-US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① Collect &amp; clean raw VR data</a:t>
                </a:r>
              </a:p>
              <a:p>
                <a:pPr marL="0" indent="0">
                  <a:buNone/>
                </a:pPr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② Extract 42 behavioral features</a:t>
                </a:r>
              </a:p>
              <a:p>
                <a:pPr marL="0" indent="0">
                  <a:buNone/>
                </a:pPr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③ Standardize (Z-score)</a:t>
                </a:r>
              </a:p>
              <a:p>
                <a:pPr marL="0" indent="0">
                  <a:buNone/>
                </a:pPr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④ PCA — reduce to 95% variance</a:t>
                </a:r>
              </a:p>
              <a:p>
                <a:pPr marL="0" indent="0">
                  <a:buNone/>
                </a:pPr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⑤ K-means clustering</a:t>
                </a:r>
              </a:p>
              <a:p>
                <a:pPr marL="0" indent="0">
                  <a:buNone/>
                </a:pPr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⑥ Euclidean + Mahalanobis distance</a:t>
                </a:r>
              </a:p>
              <a:p>
                <a:pPr marL="0" indent="0">
                  <a:buNone/>
                </a:pPr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⑦ Composite atypicality score</a:t>
                </a: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⑧ Threshold → None/Low/Med/High</a:t>
                </a:r>
              </a:p>
              <a:p>
                <a:pPr marL="0" indent="0">
                  <a:buNone/>
                </a:pPr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⑨ </a:t>
                </a:r>
                <a:r>
                  <a:rPr lang="en-US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eport</a:t>
                </a:r>
                <a:r>
                  <a:rPr lang="en-US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plot</a:t>
                </a:r>
                <a:r>
                  <a:rPr lang="ro-RO" sz="1200" dirty="0">
                    <a:solidFill>
                      <a:srgbClr val="1E293B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generation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51E6E60-CEFF-4FD4-9971-2FF4490E13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040561" y="2831929"/>
                <a:ext cx="2613280" cy="44132"/>
              </a:xfrm>
              <a:prstGeom prst="rect">
                <a:avLst/>
              </a:prstGeom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o-RO"/>
              </a:p>
            </p:txBody>
          </p:sp>
        </p:grp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0CE26E1-E967-619D-97C2-34973A8413B3}"/>
              </a:ext>
            </a:extLst>
          </p:cNvPr>
          <p:cNvSpPr/>
          <p:nvPr/>
        </p:nvSpPr>
        <p:spPr>
          <a:xfrm>
            <a:off x="1538160" y="1707732"/>
            <a:ext cx="956178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28460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88DC58-5BA0-98E0-2257-D506E2789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176865"/>
            <a:ext cx="9753600" cy="612869"/>
          </a:xfrm>
        </p:spPr>
        <p:txBody>
          <a:bodyPr anchor="ctr">
            <a:noAutofit/>
          </a:bodyPr>
          <a:lstStyle/>
          <a:p>
            <a:pPr algn="ctr"/>
            <a:r>
              <a:rPr lang="ro-RO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of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ro-RO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Our Approach</a:t>
            </a:r>
            <a:endParaRPr lang="en-150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30C9BF5-22F4-7FF2-D300-1C9AE0CA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197" y="2181252"/>
            <a:ext cx="4749802" cy="4199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Approach 1 – Hierarchical Clustering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795D2-3CD3-0E91-AB13-F4F7D5FD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9199" y="6356350"/>
            <a:ext cx="979991" cy="33381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4F81E1-ADEA-4A61-8960-B9776704775B}" type="datetime1">
              <a:rPr lang="en-US" smtClean="0"/>
              <a:pPr>
                <a:spcAft>
                  <a:spcPts val="600"/>
                </a:spcAft>
              </a:pPr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700FA-755A-6AED-75FF-9EC69D7A4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03506" y="6356350"/>
            <a:ext cx="5399820" cy="333817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Fifth Serbian International Conference on Applied Artificial Intelligence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00E858-8CA5-34CD-0C13-A69C6967DB25}"/>
              </a:ext>
            </a:extLst>
          </p:cNvPr>
          <p:cNvSpPr/>
          <p:nvPr/>
        </p:nvSpPr>
        <p:spPr>
          <a:xfrm>
            <a:off x="1219197" y="1761734"/>
            <a:ext cx="1059545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675E9D-CBA3-4E63-EEFF-B1A323A66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168" y="2501669"/>
            <a:ext cx="5133084" cy="34808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12E2EA-1537-C83E-248F-DBF473376E37}"/>
              </a:ext>
            </a:extLst>
          </p:cNvPr>
          <p:cNvSpPr txBox="1"/>
          <p:nvPr/>
        </p:nvSpPr>
        <p:spPr>
          <a:xfrm>
            <a:off x="1219197" y="2816920"/>
            <a:ext cx="60957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This Approach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Transparent visualization of natural behavioral groupings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exploratory first-pass before the more complex pipeline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It Works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Bottom-up agglomerative clustering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Participants progressively merged based on behavioral similarity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Dendrogram maps hierarchical distances between participants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It Found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primary clusters separated by a distance of ~20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Majority group: 13 participants</a:t>
            </a:r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typical behavioral profiles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Minority group: 6 participants</a:t>
            </a:r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distinct behavioral patterns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Disabled participants concentrated within the minority group</a:t>
            </a:r>
          </a:p>
        </p:txBody>
      </p:sp>
    </p:spTree>
    <p:extLst>
      <p:ext uri="{BB962C8B-B14F-4D97-AF65-F5344CB8AC3E}">
        <p14:creationId xmlns:p14="http://schemas.microsoft.com/office/powerpoint/2010/main" val="3696558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07839-F447-5CB5-9321-9F9EE8B0C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9F522E7-122A-72EE-35C8-B4C9B1574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176865"/>
            <a:ext cx="9753600" cy="612869"/>
          </a:xfrm>
        </p:spPr>
        <p:txBody>
          <a:bodyPr anchor="ctr">
            <a:noAutofit/>
          </a:bodyPr>
          <a:lstStyle/>
          <a:p>
            <a:pPr algn="ctr"/>
            <a:r>
              <a:rPr lang="ro-RO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of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ro-RO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Our Approach</a:t>
            </a:r>
            <a:endParaRPr lang="en-150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53D79D6-10AC-3B5D-012F-8A1739A6D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197" y="2172310"/>
            <a:ext cx="6074255" cy="3691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Approach2 – PCA &amp; K-means clustering &amp; Scoring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AFCD9-F76E-BAD1-EC89-DA1CDD2C9D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9199" y="6356350"/>
            <a:ext cx="979991" cy="33381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4F81E1-ADEA-4A61-8960-B9776704775B}" type="datetime1">
              <a:rPr lang="en-US" smtClean="0"/>
              <a:pPr>
                <a:spcAft>
                  <a:spcPts val="600"/>
                </a:spcAft>
              </a:pPr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0B82E-3DBC-7033-CFC3-BCD4E512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03506" y="6356350"/>
            <a:ext cx="5399820" cy="333817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Fifth Serbian International Conference on Applied Artificial Intelligence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357203-CB16-1D14-0E06-04B00EE1BF9F}"/>
              </a:ext>
            </a:extLst>
          </p:cNvPr>
          <p:cNvSpPr/>
          <p:nvPr/>
        </p:nvSpPr>
        <p:spPr>
          <a:xfrm flipV="1">
            <a:off x="1219197" y="1744015"/>
            <a:ext cx="1059545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4F52BE-DA6D-A9E0-BC67-D843FE7D9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8"/>
          <a:stretch>
            <a:fillRect/>
          </a:stretch>
        </p:blipFill>
        <p:spPr>
          <a:xfrm>
            <a:off x="7499860" y="2177471"/>
            <a:ext cx="4377267" cy="43457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C42B39-6AD7-ED4A-7E19-81174000E291}"/>
              </a:ext>
            </a:extLst>
          </p:cNvPr>
          <p:cNvSpPr txBox="1"/>
          <p:nvPr/>
        </p:nvSpPr>
        <p:spPr>
          <a:xfrm>
            <a:off x="1223433" y="2633133"/>
            <a:ext cx="614198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This Approach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Addresses limitations of hierarchical clustering</a:t>
            </a:r>
            <a:endParaRPr lang="ro-RO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for high-dimensional classification with precision</a:t>
            </a:r>
            <a:endParaRPr lang="ro-RO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Combines exploratory grouping with quantifiable anomaly detection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It Works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PCA reduces 42 features retaining 95% of variance</a:t>
            </a:r>
            <a:endParaRPr lang="ro-RO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K-means clustering with 3 predefined clusters applied in reduced space</a:t>
            </a:r>
            <a:endParaRPr lang="ro-RO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Composite atypicality score computed per participant: </a:t>
            </a:r>
            <a:r>
              <a:rPr lang="ro-RO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0.5 · ‖d_Euclidean‖  +  0.3 · </a:t>
            </a:r>
            <a:r>
              <a:rPr lang="el-GR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Δ_</a:t>
            </a:r>
            <a:r>
              <a:rPr lang="ro-RO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Mahalanobis  +  0.2 · </a:t>
            </a:r>
            <a:r>
              <a:rPr lang="el-GR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α_</a:t>
            </a:r>
            <a:r>
              <a:rPr lang="ro-RO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Mahalanobis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accounts for correlations between features</a:t>
            </a:r>
            <a:endParaRPr lang="ro-RO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Consistency separates rare-but-normal from genuinely atypical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It Found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Scores mapped to four levels: None (≤0.3) / Low (≤0.5) / Medium (≤0.7) / High (&gt;0.7)</a:t>
            </a:r>
            <a:endParaRPr lang="ro-RO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 7 and Person 9 clearly separated at 1.000 and 0.875</a:t>
            </a:r>
            <a:endParaRPr lang="ro-RO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5 disabled participants successfully detected</a:t>
            </a:r>
            <a:endParaRPr lang="ro-RO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false positives identified</a:t>
            </a:r>
            <a:r>
              <a:rPr lang="ro-R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 engagement misread as restriction</a:t>
            </a:r>
          </a:p>
        </p:txBody>
      </p:sp>
    </p:spTree>
    <p:extLst>
      <p:ext uri="{BB962C8B-B14F-4D97-AF65-F5344CB8AC3E}">
        <p14:creationId xmlns:p14="http://schemas.microsoft.com/office/powerpoint/2010/main" val="350234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FFC8A7B-2252-3C2E-15DA-2B881EC11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860" y="2843290"/>
            <a:ext cx="3372475" cy="35113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F548AB-A724-9BB6-CFDF-33EF1BA1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Analysis</a:t>
            </a:r>
            <a:br>
              <a:rPr lang="ro-RO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o-RO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Approach 2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5CEC1BC-5000-6DE1-AC1C-93CBEF256B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46" y="2259011"/>
            <a:ext cx="3511399" cy="351139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CFB58-F556-2091-74BB-F285CDF91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F81E1-ADEA-4A61-8960-B9776704775B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DBD16-28CC-A588-3DA2-9303FDA38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03506" y="6356350"/>
            <a:ext cx="5446694" cy="333817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Fifth Serbian International Conference on Applied Artificial Intelligence 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FACA1B-16DD-8511-348D-64C223435C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012" y="572774"/>
            <a:ext cx="3372474" cy="33724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BE40BB7-7363-2C35-C99B-C39AD633CE94}"/>
              </a:ext>
            </a:extLst>
          </p:cNvPr>
          <p:cNvSpPr txBox="1"/>
          <p:nvPr/>
        </p:nvSpPr>
        <p:spPr>
          <a:xfrm>
            <a:off x="2199190" y="5555549"/>
            <a:ext cx="1744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Person_2</a:t>
            </a:r>
            <a:endParaRPr lang="ro-RO" sz="14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61DB76-B283-AB66-8626-88BB7825DD1B}"/>
              </a:ext>
            </a:extLst>
          </p:cNvPr>
          <p:cNvSpPr txBox="1"/>
          <p:nvPr/>
        </p:nvSpPr>
        <p:spPr>
          <a:xfrm>
            <a:off x="9479549" y="3753391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Person_7</a:t>
            </a:r>
            <a:endParaRPr lang="ro-RO" sz="14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DA54C2-9787-D98D-3975-578A9E155684}"/>
              </a:ext>
            </a:extLst>
          </p:cNvPr>
          <p:cNvSpPr txBox="1"/>
          <p:nvPr/>
        </p:nvSpPr>
        <p:spPr>
          <a:xfrm>
            <a:off x="7617735" y="5955950"/>
            <a:ext cx="147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Person_9</a:t>
            </a:r>
            <a:endParaRPr lang="ro-RO" sz="14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373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58255-7356-E8DD-6B47-48D613C84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C2BF-5D31-4AFD-97FD-FEF3E2D992C7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09526-402F-1E84-5F11-E35929E8F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03761" y="6484850"/>
            <a:ext cx="5031827" cy="205317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Fifth Serbian International Conference on Applied Artificial Intelligence </a:t>
            </a:r>
          </a:p>
          <a:p>
            <a:endParaRPr lang="en-US" dirty="0"/>
          </a:p>
        </p:txBody>
      </p:sp>
      <p:sp>
        <p:nvSpPr>
          <p:cNvPr id="162" name="Title 161">
            <a:extLst>
              <a:ext uri="{FF2B5EF4-FFF2-40B4-BE49-F238E27FC236}">
                <a16:creationId xmlns:a16="http://schemas.microsoft.com/office/drawing/2014/main" id="{6FD25250-8E9A-C434-BA56-7B6C4FF7E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72884"/>
            <a:ext cx="4704291" cy="64219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ro-RO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1A61C028-939F-79A5-BCB7-35633BAF5FBF}"/>
              </a:ext>
            </a:extLst>
          </p:cNvPr>
          <p:cNvGrpSpPr>
            <a:grpSpLocks/>
          </p:cNvGrpSpPr>
          <p:nvPr/>
        </p:nvGrpSpPr>
        <p:grpSpPr>
          <a:xfrm>
            <a:off x="5265697" y="559528"/>
            <a:ext cx="1715347" cy="2041557"/>
            <a:chOff x="198120" y="1074420"/>
            <a:chExt cx="2651760" cy="1280384"/>
          </a:xfrm>
        </p:grpSpPr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8AE50AE3-6AA4-A33B-F48A-966807AE10C2}"/>
                </a:ext>
              </a:extLst>
            </p:cNvPr>
            <p:cNvSpPr>
              <a:spLocks/>
            </p:cNvSpPr>
            <p:nvPr/>
          </p:nvSpPr>
          <p:spPr>
            <a:xfrm>
              <a:off x="198120" y="1074420"/>
              <a:ext cx="2651760" cy="1280384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4B8B82A0-4230-2234-4EB2-E65D6522609F}"/>
                </a:ext>
              </a:extLst>
            </p:cNvPr>
            <p:cNvSpPr>
              <a:spLocks/>
            </p:cNvSpPr>
            <p:nvPr/>
          </p:nvSpPr>
          <p:spPr>
            <a:xfrm>
              <a:off x="198120" y="1074420"/>
              <a:ext cx="2651760" cy="914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65" name="TextBox 6">
              <a:extLst>
                <a:ext uri="{FF2B5EF4-FFF2-40B4-BE49-F238E27FC236}">
                  <a16:creationId xmlns:a16="http://schemas.microsoft.com/office/drawing/2014/main" id="{7110DCFD-3F78-BA1F-C8C8-ED5D44E899E5}"/>
                </a:ext>
              </a:extLst>
            </p:cNvPr>
            <p:cNvSpPr txBox="1">
              <a:spLocks/>
            </p:cNvSpPr>
            <p:nvPr/>
          </p:nvSpPr>
          <p:spPr>
            <a:xfrm>
              <a:off x="289560" y="1211580"/>
              <a:ext cx="2468880" cy="59436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3400" b="1" i="0" dirty="0">
                  <a:solidFill>
                    <a:srgbClr val="1E2761"/>
                  </a:solidFill>
                </a:rPr>
                <a:t>19</a:t>
              </a:r>
            </a:p>
          </p:txBody>
        </p:sp>
        <p:sp>
          <p:nvSpPr>
            <p:cNvPr id="166" name="TextBox 7">
              <a:extLst>
                <a:ext uri="{FF2B5EF4-FFF2-40B4-BE49-F238E27FC236}">
                  <a16:creationId xmlns:a16="http://schemas.microsoft.com/office/drawing/2014/main" id="{5ED38CCA-22C8-4E03-26A1-F8FC4417736D}"/>
                </a:ext>
              </a:extLst>
            </p:cNvPr>
            <p:cNvSpPr txBox="1">
              <a:spLocks/>
            </p:cNvSpPr>
            <p:nvPr/>
          </p:nvSpPr>
          <p:spPr>
            <a:xfrm>
              <a:off x="289559" y="1805939"/>
              <a:ext cx="2468880" cy="54855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00" b="0" i="0" dirty="0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Total Participants</a:t>
              </a:r>
              <a:endParaRPr lang="en-US" sz="1100" b="0" i="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sz="1100" b="0" i="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9C0C04-6F77-F864-F7B4-B39097BD5E4C}"/>
              </a:ext>
            </a:extLst>
          </p:cNvPr>
          <p:cNvGrpSpPr>
            <a:grpSpLocks/>
          </p:cNvGrpSpPr>
          <p:nvPr/>
        </p:nvGrpSpPr>
        <p:grpSpPr>
          <a:xfrm>
            <a:off x="6949195" y="904301"/>
            <a:ext cx="1723814" cy="2072728"/>
            <a:chOff x="3078480" y="1074420"/>
            <a:chExt cx="2664849" cy="1247735"/>
          </a:xfrm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A1D23A83-86E9-55CC-DAD5-025894FB79B1}"/>
                </a:ext>
              </a:extLst>
            </p:cNvPr>
            <p:cNvSpPr>
              <a:spLocks/>
            </p:cNvSpPr>
            <p:nvPr/>
          </p:nvSpPr>
          <p:spPr>
            <a:xfrm>
              <a:off x="3078480" y="1074420"/>
              <a:ext cx="2651760" cy="1234440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38694F2-B303-1C0A-D4A2-A3F0143CE3B2}"/>
                </a:ext>
              </a:extLst>
            </p:cNvPr>
            <p:cNvSpPr>
              <a:spLocks/>
            </p:cNvSpPr>
            <p:nvPr/>
          </p:nvSpPr>
          <p:spPr>
            <a:xfrm>
              <a:off x="3091569" y="1088915"/>
              <a:ext cx="2651760" cy="9144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07E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169" name="TextBox 10">
              <a:extLst>
                <a:ext uri="{FF2B5EF4-FFF2-40B4-BE49-F238E27FC236}">
                  <a16:creationId xmlns:a16="http://schemas.microsoft.com/office/drawing/2014/main" id="{6FC9724F-E242-94D7-F5D1-D7977E3CA468}"/>
                </a:ext>
              </a:extLst>
            </p:cNvPr>
            <p:cNvSpPr txBox="1">
              <a:spLocks/>
            </p:cNvSpPr>
            <p:nvPr/>
          </p:nvSpPr>
          <p:spPr>
            <a:xfrm>
              <a:off x="3169920" y="1211580"/>
              <a:ext cx="2468880" cy="59436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3400" b="1" i="0" dirty="0">
                  <a:solidFill>
                    <a:srgbClr val="1E2761"/>
                  </a:solidFill>
                </a:rPr>
                <a:t>5 / 5</a:t>
              </a:r>
            </a:p>
          </p:txBody>
        </p:sp>
        <p:sp>
          <p:nvSpPr>
            <p:cNvPr id="170" name="TextBox 11">
              <a:extLst>
                <a:ext uri="{FF2B5EF4-FFF2-40B4-BE49-F238E27FC236}">
                  <a16:creationId xmlns:a16="http://schemas.microsoft.com/office/drawing/2014/main" id="{651A81E7-855B-B5C3-3031-1C8C4011C346}"/>
                </a:ext>
              </a:extLst>
            </p:cNvPr>
            <p:cNvSpPr txBox="1">
              <a:spLocks/>
            </p:cNvSpPr>
            <p:nvPr/>
          </p:nvSpPr>
          <p:spPr>
            <a:xfrm>
              <a:off x="3169920" y="1805940"/>
              <a:ext cx="2468880" cy="51621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00" b="0" i="0" dirty="0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Disabled Correctly Detected</a:t>
              </a:r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E9F47DB9-3065-B179-ED7C-C8FB02073016}"/>
              </a:ext>
            </a:extLst>
          </p:cNvPr>
          <p:cNvGrpSpPr>
            <a:grpSpLocks/>
          </p:cNvGrpSpPr>
          <p:nvPr/>
        </p:nvGrpSpPr>
        <p:grpSpPr>
          <a:xfrm>
            <a:off x="8641160" y="559529"/>
            <a:ext cx="1715347" cy="2023132"/>
            <a:chOff x="5958840" y="1074420"/>
            <a:chExt cx="2651760" cy="1258725"/>
          </a:xfrm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0546E2DB-7E5C-FADF-6F71-503FA427C119}"/>
                </a:ext>
              </a:extLst>
            </p:cNvPr>
            <p:cNvSpPr>
              <a:spLocks/>
            </p:cNvSpPr>
            <p:nvPr/>
          </p:nvSpPr>
          <p:spPr>
            <a:xfrm>
              <a:off x="5958840" y="1074420"/>
              <a:ext cx="2651760" cy="1234440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40AF7194-56FE-AE01-C2AB-F46E76F73670}"/>
                </a:ext>
              </a:extLst>
            </p:cNvPr>
            <p:cNvSpPr>
              <a:spLocks/>
            </p:cNvSpPr>
            <p:nvPr/>
          </p:nvSpPr>
          <p:spPr>
            <a:xfrm>
              <a:off x="5958840" y="1074420"/>
              <a:ext cx="2651760" cy="914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73" name="TextBox 14">
              <a:extLst>
                <a:ext uri="{FF2B5EF4-FFF2-40B4-BE49-F238E27FC236}">
                  <a16:creationId xmlns:a16="http://schemas.microsoft.com/office/drawing/2014/main" id="{467DF831-EA1A-2114-327C-B5CF289B8BF6}"/>
                </a:ext>
              </a:extLst>
            </p:cNvPr>
            <p:cNvSpPr txBox="1">
              <a:spLocks/>
            </p:cNvSpPr>
            <p:nvPr/>
          </p:nvSpPr>
          <p:spPr>
            <a:xfrm>
              <a:off x="6050280" y="1211580"/>
              <a:ext cx="2468880" cy="59436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3400" b="1" i="0" dirty="0">
                  <a:solidFill>
                    <a:srgbClr val="1E2761"/>
                  </a:solidFill>
                </a:rPr>
                <a:t>5</a:t>
              </a:r>
            </a:p>
          </p:txBody>
        </p:sp>
        <p:sp>
          <p:nvSpPr>
            <p:cNvPr id="174" name="TextBox 15">
              <a:extLst>
                <a:ext uri="{FF2B5EF4-FFF2-40B4-BE49-F238E27FC236}">
                  <a16:creationId xmlns:a16="http://schemas.microsoft.com/office/drawing/2014/main" id="{52539B20-99B3-E3E1-726F-BA0A1ABB5FDF}"/>
                </a:ext>
              </a:extLst>
            </p:cNvPr>
            <p:cNvSpPr txBox="1">
              <a:spLocks/>
            </p:cNvSpPr>
            <p:nvPr/>
          </p:nvSpPr>
          <p:spPr>
            <a:xfrm>
              <a:off x="6050280" y="1805942"/>
              <a:ext cx="2468880" cy="527203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o-RO" sz="1100" b="0" i="0" dirty="0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False Positives</a:t>
              </a:r>
              <a:endParaRPr lang="en-US" sz="1100" b="0" i="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sz="1100" b="0" i="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AB2436ED-46CF-B724-4288-4EAC92405D6B}"/>
              </a:ext>
            </a:extLst>
          </p:cNvPr>
          <p:cNvGrpSpPr>
            <a:grpSpLocks/>
          </p:cNvGrpSpPr>
          <p:nvPr/>
        </p:nvGrpSpPr>
        <p:grpSpPr>
          <a:xfrm>
            <a:off x="10356507" y="951643"/>
            <a:ext cx="1715347" cy="1984961"/>
            <a:chOff x="8839200" y="1074420"/>
            <a:chExt cx="2651760" cy="1234440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A5D3523E-B75A-65AE-9932-A0BC32C94E1C}"/>
                </a:ext>
              </a:extLst>
            </p:cNvPr>
            <p:cNvSpPr>
              <a:spLocks/>
            </p:cNvSpPr>
            <p:nvPr/>
          </p:nvSpPr>
          <p:spPr>
            <a:xfrm>
              <a:off x="8839200" y="1074420"/>
              <a:ext cx="2651760" cy="1234440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F759BF41-F24F-3B7A-34CF-8AEB044DD7C5}"/>
                </a:ext>
              </a:extLst>
            </p:cNvPr>
            <p:cNvSpPr>
              <a:spLocks/>
            </p:cNvSpPr>
            <p:nvPr/>
          </p:nvSpPr>
          <p:spPr>
            <a:xfrm>
              <a:off x="8839200" y="1074420"/>
              <a:ext cx="2651760" cy="9144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177" name="TextBox 18">
              <a:extLst>
                <a:ext uri="{FF2B5EF4-FFF2-40B4-BE49-F238E27FC236}">
                  <a16:creationId xmlns:a16="http://schemas.microsoft.com/office/drawing/2014/main" id="{E80259FF-0F5B-FCB3-AEB3-78A51C44D20F}"/>
                </a:ext>
              </a:extLst>
            </p:cNvPr>
            <p:cNvSpPr txBox="1">
              <a:spLocks/>
            </p:cNvSpPr>
            <p:nvPr/>
          </p:nvSpPr>
          <p:spPr>
            <a:xfrm>
              <a:off x="8930640" y="1211580"/>
              <a:ext cx="2468880" cy="59436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3400" b="1" i="0" dirty="0">
                  <a:solidFill>
                    <a:srgbClr val="1E2761"/>
                  </a:solidFill>
                </a:rPr>
                <a:t>1.000</a:t>
              </a:r>
            </a:p>
          </p:txBody>
        </p:sp>
        <p:sp>
          <p:nvSpPr>
            <p:cNvPr id="178" name="TextBox 19">
              <a:extLst>
                <a:ext uri="{FF2B5EF4-FFF2-40B4-BE49-F238E27FC236}">
                  <a16:creationId xmlns:a16="http://schemas.microsoft.com/office/drawing/2014/main" id="{420EECD2-1D05-6539-D3C0-0F4B2042B82E}"/>
                </a:ext>
              </a:extLst>
            </p:cNvPr>
            <p:cNvSpPr txBox="1">
              <a:spLocks/>
            </p:cNvSpPr>
            <p:nvPr/>
          </p:nvSpPr>
          <p:spPr>
            <a:xfrm>
              <a:off x="8930640" y="1805941"/>
              <a:ext cx="2468880" cy="499023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00" b="0" i="0" dirty="0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Top Atypicality Score
(Person_7)</a:t>
              </a:r>
            </a:p>
          </p:txBody>
        </p:sp>
      </p:grpSp>
      <p:sp>
        <p:nvSpPr>
          <p:cNvPr id="179" name="TextBox 20">
            <a:extLst>
              <a:ext uri="{FF2B5EF4-FFF2-40B4-BE49-F238E27FC236}">
                <a16:creationId xmlns:a16="http://schemas.microsoft.com/office/drawing/2014/main" id="{5005A656-0312-7FBF-90D3-B459635D19A2}"/>
              </a:ext>
            </a:extLst>
          </p:cNvPr>
          <p:cNvSpPr txBox="1">
            <a:spLocks/>
          </p:cNvSpPr>
          <p:nvPr/>
        </p:nvSpPr>
        <p:spPr>
          <a:xfrm>
            <a:off x="2127306" y="2743004"/>
            <a:ext cx="1041907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 i="0" dirty="0">
                <a:solidFill>
                  <a:srgbClr val="1E2761"/>
                </a:solidFill>
              </a:rPr>
              <a:t>Key Participant Profiles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5987645-029C-546F-770A-F3755E8BF603}"/>
              </a:ext>
            </a:extLst>
          </p:cNvPr>
          <p:cNvGrpSpPr/>
          <p:nvPr/>
        </p:nvGrpSpPr>
        <p:grpSpPr>
          <a:xfrm>
            <a:off x="2127306" y="3211264"/>
            <a:ext cx="9643778" cy="2834640"/>
            <a:chOff x="2074323" y="3100560"/>
            <a:chExt cx="9643778" cy="2834640"/>
          </a:xfrm>
        </p:grpSpPr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3BE26F66-4999-791A-E99F-D5522EEF58E2}"/>
                </a:ext>
              </a:extLst>
            </p:cNvPr>
            <p:cNvSpPr>
              <a:spLocks/>
            </p:cNvSpPr>
            <p:nvPr/>
          </p:nvSpPr>
          <p:spPr>
            <a:xfrm>
              <a:off x="4180184" y="4490448"/>
              <a:ext cx="1849348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E1121771-CB80-1462-7677-69554E76E24A}"/>
                </a:ext>
              </a:extLst>
            </p:cNvPr>
            <p:cNvSpPr>
              <a:spLocks/>
            </p:cNvSpPr>
            <p:nvPr/>
          </p:nvSpPr>
          <p:spPr>
            <a:xfrm>
              <a:off x="4180190" y="3100560"/>
              <a:ext cx="1849347" cy="347472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85" name="TextBox 26">
              <a:extLst>
                <a:ext uri="{FF2B5EF4-FFF2-40B4-BE49-F238E27FC236}">
                  <a16:creationId xmlns:a16="http://schemas.microsoft.com/office/drawing/2014/main" id="{6979D48E-0BBB-0EBD-6679-EBDA78490487}"/>
                </a:ext>
              </a:extLst>
            </p:cNvPr>
            <p:cNvSpPr txBox="1">
              <a:spLocks/>
            </p:cNvSpPr>
            <p:nvPr/>
          </p:nvSpPr>
          <p:spPr>
            <a:xfrm>
              <a:off x="4180188" y="3124455"/>
              <a:ext cx="1849347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o-RO" sz="1300" b="1" dirty="0">
                  <a:solidFill>
                    <a:srgbClr val="FFFFFF"/>
                  </a:solidFill>
                </a:rPr>
                <a:t>Status</a:t>
              </a:r>
              <a:endParaRPr sz="1300" b="1" i="0" dirty="0">
                <a:solidFill>
                  <a:srgbClr val="FFFFFF"/>
                </a:solidFill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35F1E9A9-8744-8E14-8F16-7BC22091276B}"/>
                </a:ext>
              </a:extLst>
            </p:cNvPr>
            <p:cNvSpPr>
              <a:spLocks/>
            </p:cNvSpPr>
            <p:nvPr/>
          </p:nvSpPr>
          <p:spPr>
            <a:xfrm>
              <a:off x="4180190" y="3466320"/>
              <a:ext cx="1849348" cy="457200"/>
            </a:xfrm>
            <a:prstGeom prst="rect">
              <a:avLst/>
            </a:prstGeom>
            <a:solidFill>
              <a:srgbClr val="FFF0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95" name="TextBox 36">
              <a:extLst>
                <a:ext uri="{FF2B5EF4-FFF2-40B4-BE49-F238E27FC236}">
                  <a16:creationId xmlns:a16="http://schemas.microsoft.com/office/drawing/2014/main" id="{19127367-FCDF-ECF2-2B9B-77AFB1AA788C}"/>
                </a:ext>
              </a:extLst>
            </p:cNvPr>
            <p:cNvSpPr txBox="1">
              <a:spLocks/>
            </p:cNvSpPr>
            <p:nvPr/>
          </p:nvSpPr>
          <p:spPr>
            <a:xfrm>
              <a:off x="4180189" y="3561025"/>
              <a:ext cx="184934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o-RO" sz="1200" dirty="0">
                  <a:solidFill>
                    <a:srgbClr val="1E293B"/>
                  </a:solidFill>
                </a:rPr>
                <a:t>Atypical (Motor disabled)</a:t>
              </a:r>
              <a:endParaRPr sz="1200" b="0" i="0" dirty="0">
                <a:solidFill>
                  <a:srgbClr val="1E293B"/>
                </a:solidFill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B314D698-2C1E-A2AF-7573-01A8FF79475E}"/>
                </a:ext>
              </a:extLst>
            </p:cNvPr>
            <p:cNvSpPr>
              <a:spLocks/>
            </p:cNvSpPr>
            <p:nvPr/>
          </p:nvSpPr>
          <p:spPr>
            <a:xfrm>
              <a:off x="4180185" y="3969240"/>
              <a:ext cx="1849349" cy="457200"/>
            </a:xfrm>
            <a:prstGeom prst="rect">
              <a:avLst/>
            </a:prstGeom>
            <a:solidFill>
              <a:srgbClr val="FF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05" name="TextBox 46">
              <a:extLst>
                <a:ext uri="{FF2B5EF4-FFF2-40B4-BE49-F238E27FC236}">
                  <a16:creationId xmlns:a16="http://schemas.microsoft.com/office/drawing/2014/main" id="{2E5B08B9-6D89-AEA2-BF10-BFC07F86EE6F}"/>
                </a:ext>
              </a:extLst>
            </p:cNvPr>
            <p:cNvSpPr txBox="1">
              <a:spLocks/>
            </p:cNvSpPr>
            <p:nvPr/>
          </p:nvSpPr>
          <p:spPr>
            <a:xfrm>
              <a:off x="4180185" y="4055979"/>
              <a:ext cx="184934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o-RO" sz="1200" b="0" i="0" dirty="0">
                  <a:solidFill>
                    <a:srgbClr val="1E293B"/>
                  </a:solidFill>
                </a:rPr>
                <a:t>Atypical (motor disabled)</a:t>
              </a:r>
              <a:endParaRPr sz="1200" b="0" i="0" dirty="0">
                <a:solidFill>
                  <a:srgbClr val="1E293B"/>
                </a:solidFill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E2C5A5A2-0C8B-8CB9-E7BD-9AE98FFB2209}"/>
                </a:ext>
              </a:extLst>
            </p:cNvPr>
            <p:cNvSpPr>
              <a:spLocks/>
            </p:cNvSpPr>
            <p:nvPr/>
          </p:nvSpPr>
          <p:spPr>
            <a:xfrm>
              <a:off x="4180185" y="4472160"/>
              <a:ext cx="1849349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15" name="TextBox 56">
              <a:extLst>
                <a:ext uri="{FF2B5EF4-FFF2-40B4-BE49-F238E27FC236}">
                  <a16:creationId xmlns:a16="http://schemas.microsoft.com/office/drawing/2014/main" id="{F7F61455-1FC9-FB5F-CE8A-0FB6951E63CF}"/>
                </a:ext>
              </a:extLst>
            </p:cNvPr>
            <p:cNvSpPr txBox="1">
              <a:spLocks/>
            </p:cNvSpPr>
            <p:nvPr/>
          </p:nvSpPr>
          <p:spPr>
            <a:xfrm>
              <a:off x="4144913" y="4560384"/>
              <a:ext cx="188462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o-RO" sz="1200" dirty="0">
                  <a:solidFill>
                    <a:srgbClr val="1E293B"/>
                  </a:solidFill>
                </a:rPr>
                <a:t>Typical (benchmark)</a:t>
              </a: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C6A15A41-3A08-DDFF-06BF-8A9119AE446A}"/>
                </a:ext>
              </a:extLst>
            </p:cNvPr>
            <p:cNvSpPr>
              <a:spLocks/>
            </p:cNvSpPr>
            <p:nvPr/>
          </p:nvSpPr>
          <p:spPr>
            <a:xfrm>
              <a:off x="4180183" y="4975080"/>
              <a:ext cx="1849349" cy="457200"/>
            </a:xfrm>
            <a:prstGeom prst="rect">
              <a:avLst/>
            </a:prstGeom>
            <a:solidFill>
              <a:srgbClr val="F0F8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25" name="TextBox 66">
              <a:extLst>
                <a:ext uri="{FF2B5EF4-FFF2-40B4-BE49-F238E27FC236}">
                  <a16:creationId xmlns:a16="http://schemas.microsoft.com/office/drawing/2014/main" id="{6D518E2F-5420-E21C-7824-7307AD1DB84E}"/>
                </a:ext>
              </a:extLst>
            </p:cNvPr>
            <p:cNvSpPr txBox="1">
              <a:spLocks/>
            </p:cNvSpPr>
            <p:nvPr/>
          </p:nvSpPr>
          <p:spPr>
            <a:xfrm>
              <a:off x="4180183" y="5063304"/>
              <a:ext cx="184934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o-RO" sz="1200" dirty="0">
                  <a:solidFill>
                    <a:srgbClr val="1E293B"/>
                  </a:solidFill>
                </a:rPr>
                <a:t>Typical (FALSE+)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EB4AA38-2BC2-C348-D442-98E84C7D4C63}"/>
                </a:ext>
              </a:extLst>
            </p:cNvPr>
            <p:cNvGrpSpPr/>
            <p:nvPr/>
          </p:nvGrpSpPr>
          <p:grpSpPr>
            <a:xfrm>
              <a:off x="2074323" y="3100560"/>
              <a:ext cx="2019202" cy="2834640"/>
              <a:chOff x="1356764" y="3100560"/>
              <a:chExt cx="2019202" cy="2834640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E4B601C7-F767-4CBC-B3EC-48D71ECEF2F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6764" y="3100560"/>
                <a:ext cx="1171137" cy="347472"/>
              </a:xfrm>
              <a:prstGeom prst="rect">
                <a:avLst/>
              </a:prstGeom>
              <a:solidFill>
                <a:srgbClr val="1E276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81" name="TextBox 22">
                <a:extLst>
                  <a:ext uri="{FF2B5EF4-FFF2-40B4-BE49-F238E27FC236}">
                    <a16:creationId xmlns:a16="http://schemas.microsoft.com/office/drawing/2014/main" id="{CFD0D57D-C096-E8E3-58A0-7802F59DFA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97148" y="3127992"/>
                <a:ext cx="1130753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300" b="1" i="0" dirty="0">
                    <a:solidFill>
                      <a:srgbClr val="FFFFFF"/>
                    </a:solidFill>
                  </a:rPr>
                  <a:t>Person</a:t>
                </a: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1D510908-F712-36ED-5810-9FB54D30E0C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608669" y="3100560"/>
                <a:ext cx="767297" cy="347472"/>
              </a:xfrm>
              <a:prstGeom prst="rect">
                <a:avLst/>
              </a:prstGeom>
              <a:solidFill>
                <a:srgbClr val="1E276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83" name="TextBox 24">
                <a:extLst>
                  <a:ext uri="{FF2B5EF4-FFF2-40B4-BE49-F238E27FC236}">
                    <a16:creationId xmlns:a16="http://schemas.microsoft.com/office/drawing/2014/main" id="{9D03D5E7-7E7E-9D4D-2A8B-69853C4EDA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49053" y="3127992"/>
                <a:ext cx="726912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300" b="1" i="0" dirty="0">
                    <a:solidFill>
                      <a:srgbClr val="FFFFFF"/>
                    </a:solidFill>
                  </a:rPr>
                  <a:t>Score</a:t>
                </a: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309E7576-6C8F-39DA-ABFA-553863660ED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6764" y="3466320"/>
                <a:ext cx="1171137" cy="457200"/>
              </a:xfrm>
              <a:prstGeom prst="rect">
                <a:avLst/>
              </a:prstGeom>
              <a:solidFill>
                <a:srgbClr val="FFF0F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1" name="TextBox 32">
                <a:extLst>
                  <a:ext uri="{FF2B5EF4-FFF2-40B4-BE49-F238E27FC236}">
                    <a16:creationId xmlns:a16="http://schemas.microsoft.com/office/drawing/2014/main" id="{92DFB512-9861-4969-1207-7008BDD7C1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97148" y="3512040"/>
                <a:ext cx="1130753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00" b="1" i="0" dirty="0">
                    <a:solidFill>
                      <a:srgbClr val="1E293B"/>
                    </a:solidFill>
                  </a:rPr>
                  <a:t>Person_7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6B40D604-36A0-6508-E6C2-0EA6C0974F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608669" y="3466320"/>
                <a:ext cx="767297" cy="457200"/>
              </a:xfrm>
              <a:prstGeom prst="rect">
                <a:avLst/>
              </a:prstGeom>
              <a:solidFill>
                <a:srgbClr val="FFF0F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3" name="TextBox 34">
                <a:extLst>
                  <a:ext uri="{FF2B5EF4-FFF2-40B4-BE49-F238E27FC236}">
                    <a16:creationId xmlns:a16="http://schemas.microsoft.com/office/drawing/2014/main" id="{86CB2068-1BFD-3332-1B0A-6E3E7A9E39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49053" y="3512040"/>
                <a:ext cx="726912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00" b="0" i="0">
                    <a:solidFill>
                      <a:srgbClr val="C00000"/>
                    </a:solidFill>
                  </a:rPr>
                  <a:t>1.000</a:t>
                </a: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654F2BDC-B1B4-E807-C076-D1FC6F44E80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6764" y="3969240"/>
                <a:ext cx="1171137" cy="457200"/>
              </a:xfrm>
              <a:prstGeom prst="rect">
                <a:avLst/>
              </a:prstGeom>
              <a:solidFill>
                <a:srgbClr val="FFF5F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01" name="TextBox 42">
                <a:extLst>
                  <a:ext uri="{FF2B5EF4-FFF2-40B4-BE49-F238E27FC236}">
                    <a16:creationId xmlns:a16="http://schemas.microsoft.com/office/drawing/2014/main" id="{9D254CB9-95F6-FD11-3118-CC213935B9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97148" y="4014960"/>
                <a:ext cx="1130753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00" b="1" i="0">
                    <a:solidFill>
                      <a:srgbClr val="1E293B"/>
                    </a:solidFill>
                  </a:rPr>
                  <a:t>Person_9</a:t>
                </a: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76F5F3C5-F29B-3E91-92A7-04B01696E3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608669" y="3969240"/>
                <a:ext cx="767297" cy="457200"/>
              </a:xfrm>
              <a:prstGeom prst="rect">
                <a:avLst/>
              </a:prstGeom>
              <a:solidFill>
                <a:srgbClr val="FFF5F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03" name="TextBox 44">
                <a:extLst>
                  <a:ext uri="{FF2B5EF4-FFF2-40B4-BE49-F238E27FC236}">
                    <a16:creationId xmlns:a16="http://schemas.microsoft.com/office/drawing/2014/main" id="{6ACC29BC-83B2-2208-9008-2A041629BB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49053" y="4014960"/>
                <a:ext cx="726912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00" b="0" i="0">
                    <a:solidFill>
                      <a:srgbClr val="C00000"/>
                    </a:solidFill>
                  </a:rPr>
                  <a:t>0.875</a:t>
                </a: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A3053AD2-B950-90B0-6E96-60E7918674C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6764" y="4472160"/>
                <a:ext cx="1171137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11" name="TextBox 52">
                <a:extLst>
                  <a:ext uri="{FF2B5EF4-FFF2-40B4-BE49-F238E27FC236}">
                    <a16:creationId xmlns:a16="http://schemas.microsoft.com/office/drawing/2014/main" id="{B5037F30-02BA-175D-92A4-E891ECA89E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97148" y="4517880"/>
                <a:ext cx="1130753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00" b="1" i="0">
                    <a:solidFill>
                      <a:srgbClr val="1E293B"/>
                    </a:solidFill>
                  </a:rPr>
                  <a:t>Person_2</a:t>
                </a: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C2863471-23FE-F18C-A87B-F8086C380D9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608669" y="4472160"/>
                <a:ext cx="767297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13" name="TextBox 54">
                <a:extLst>
                  <a:ext uri="{FF2B5EF4-FFF2-40B4-BE49-F238E27FC236}">
                    <a16:creationId xmlns:a16="http://schemas.microsoft.com/office/drawing/2014/main" id="{E979F9BA-9D5E-64E4-008F-E946D1B73C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49053" y="4517880"/>
                <a:ext cx="726912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00" b="0" i="0">
                    <a:solidFill>
                      <a:srgbClr val="028090"/>
                    </a:solidFill>
                  </a:rPr>
                  <a:t>0.50</a:t>
                </a: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590A27FC-3DA0-BA13-E95D-519DF40D30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6764" y="4975080"/>
                <a:ext cx="1171137" cy="457200"/>
              </a:xfrm>
              <a:prstGeom prst="rect">
                <a:avLst/>
              </a:prstGeom>
              <a:solidFill>
                <a:srgbClr val="F0F8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21" name="TextBox 62">
                <a:extLst>
                  <a:ext uri="{FF2B5EF4-FFF2-40B4-BE49-F238E27FC236}">
                    <a16:creationId xmlns:a16="http://schemas.microsoft.com/office/drawing/2014/main" id="{F59CC61E-EB54-6779-B832-4D13438849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97148" y="5020800"/>
                <a:ext cx="1130753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00" b="1" i="0">
                    <a:solidFill>
                      <a:srgbClr val="1E293B"/>
                    </a:solidFill>
                  </a:rPr>
                  <a:t>Person_8</a:t>
                </a: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53257640-4446-9D8A-4F74-1805D80E6C9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608669" y="4975080"/>
                <a:ext cx="767297" cy="457200"/>
              </a:xfrm>
              <a:prstGeom prst="rect">
                <a:avLst/>
              </a:prstGeom>
              <a:solidFill>
                <a:srgbClr val="F0F8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23" name="TextBox 64">
                <a:extLst>
                  <a:ext uri="{FF2B5EF4-FFF2-40B4-BE49-F238E27FC236}">
                    <a16:creationId xmlns:a16="http://schemas.microsoft.com/office/drawing/2014/main" id="{8F4B62FD-3FE7-11F0-FF65-5959713FE6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49053" y="5020800"/>
                <a:ext cx="726912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00" b="0" i="0">
                    <a:solidFill>
                      <a:srgbClr val="C00000"/>
                    </a:solidFill>
                  </a:rPr>
                  <a:t>0.72</a:t>
                </a: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216B6D84-6456-5167-A635-5C239E8D8FF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6764" y="5478000"/>
                <a:ext cx="1171137" cy="457200"/>
              </a:xfrm>
              <a:prstGeom prst="rect">
                <a:avLst/>
              </a:prstGeom>
              <a:solidFill>
                <a:srgbClr val="F0F8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31" name="TextBox 72">
                <a:extLst>
                  <a:ext uri="{FF2B5EF4-FFF2-40B4-BE49-F238E27FC236}">
                    <a16:creationId xmlns:a16="http://schemas.microsoft.com/office/drawing/2014/main" id="{92AACF7D-78E8-F441-0911-32495E945B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97148" y="5523720"/>
                <a:ext cx="1130753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00" b="1" i="0">
                    <a:solidFill>
                      <a:srgbClr val="1E293B"/>
                    </a:solidFill>
                  </a:rPr>
                  <a:t>Person_16</a:t>
                </a: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0ED42F9D-458E-0AB5-3606-EC8930B9181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608669" y="5478000"/>
                <a:ext cx="767297" cy="457200"/>
              </a:xfrm>
              <a:prstGeom prst="rect">
                <a:avLst/>
              </a:prstGeom>
              <a:solidFill>
                <a:srgbClr val="F0F8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33" name="TextBox 74">
                <a:extLst>
                  <a:ext uri="{FF2B5EF4-FFF2-40B4-BE49-F238E27FC236}">
                    <a16:creationId xmlns:a16="http://schemas.microsoft.com/office/drawing/2014/main" id="{1004BF6D-649B-6A9F-C0DB-F3A4BB3780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49053" y="5523720"/>
                <a:ext cx="726912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00" b="0" i="0">
                    <a:solidFill>
                      <a:srgbClr val="028090"/>
                    </a:solidFill>
                  </a:rPr>
                  <a:t>0.59</a:t>
                </a:r>
              </a:p>
            </p:txBody>
          </p:sp>
        </p:grp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8AA40918-583B-15CE-AE54-C6AA813AA27E}"/>
                </a:ext>
              </a:extLst>
            </p:cNvPr>
            <p:cNvSpPr>
              <a:spLocks/>
            </p:cNvSpPr>
            <p:nvPr/>
          </p:nvSpPr>
          <p:spPr>
            <a:xfrm>
              <a:off x="4180181" y="5478000"/>
              <a:ext cx="1849349" cy="457200"/>
            </a:xfrm>
            <a:prstGeom prst="rect">
              <a:avLst/>
            </a:prstGeom>
            <a:solidFill>
              <a:srgbClr val="F0F8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35" name="TextBox 76">
              <a:extLst>
                <a:ext uri="{FF2B5EF4-FFF2-40B4-BE49-F238E27FC236}">
                  <a16:creationId xmlns:a16="http://schemas.microsoft.com/office/drawing/2014/main" id="{3B11AD56-F4F3-8D64-771E-A040541CD2DB}"/>
                </a:ext>
              </a:extLst>
            </p:cNvPr>
            <p:cNvSpPr txBox="1">
              <a:spLocks/>
            </p:cNvSpPr>
            <p:nvPr/>
          </p:nvSpPr>
          <p:spPr>
            <a:xfrm>
              <a:off x="4180181" y="5523720"/>
              <a:ext cx="184934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o-RO" sz="1200" dirty="0">
                  <a:solidFill>
                    <a:srgbClr val="1E293B"/>
                  </a:solidFill>
                </a:rPr>
                <a:t>Typical (FALSE+)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057EA2B-096C-5E0C-EF90-BD3AC5FB9E4A}"/>
                </a:ext>
              </a:extLst>
            </p:cNvPr>
            <p:cNvGrpSpPr/>
            <p:nvPr/>
          </p:nvGrpSpPr>
          <p:grpSpPr>
            <a:xfrm>
              <a:off x="6104721" y="3100560"/>
              <a:ext cx="5613380" cy="2834640"/>
              <a:chOff x="6162463" y="3100560"/>
              <a:chExt cx="5613380" cy="2834640"/>
            </a:xfrm>
          </p:grpSpPr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4C841257-3861-C6A7-86C1-E6C739D8149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62463" y="3100560"/>
                <a:ext cx="5613380" cy="347472"/>
              </a:xfrm>
              <a:prstGeom prst="rect">
                <a:avLst/>
              </a:prstGeom>
              <a:solidFill>
                <a:srgbClr val="1E276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89" name="TextBox 30">
                <a:extLst>
                  <a:ext uri="{FF2B5EF4-FFF2-40B4-BE49-F238E27FC236}">
                    <a16:creationId xmlns:a16="http://schemas.microsoft.com/office/drawing/2014/main" id="{7FBFF9BB-39D3-95B5-FC54-0955C5816F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2846" y="3127992"/>
                <a:ext cx="5572996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300" b="1" i="0" dirty="0">
                    <a:solidFill>
                      <a:srgbClr val="FFFFFF"/>
                    </a:solidFill>
                  </a:rPr>
                  <a:t>Key Finding</a:t>
                </a: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D4647BCC-7C64-E74C-AA88-CE9383BF14A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62463" y="3466320"/>
                <a:ext cx="5613380" cy="457200"/>
              </a:xfrm>
              <a:prstGeom prst="rect">
                <a:avLst/>
              </a:prstGeom>
              <a:solidFill>
                <a:srgbClr val="FFF0F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9" name="TextBox 40">
                <a:extLst>
                  <a:ext uri="{FF2B5EF4-FFF2-40B4-BE49-F238E27FC236}">
                    <a16:creationId xmlns:a16="http://schemas.microsoft.com/office/drawing/2014/main" id="{6ACAE67E-E678-53ED-25E3-DEC2C31A29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2846" y="3512040"/>
                <a:ext cx="557299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00" b="0" i="0" dirty="0">
                    <a:solidFill>
                      <a:srgbClr val="1E293B"/>
                    </a:solidFill>
                  </a:rPr>
                  <a:t>Restricted to single horizontal plane; unable to perform vertical gaze</a:t>
                </a:r>
                <a:r>
                  <a:rPr lang="en-US" sz="1200" b="0" i="0" dirty="0">
                    <a:solidFill>
                      <a:srgbClr val="1E293B"/>
                    </a:solidFill>
                  </a:rPr>
                  <a:t>,</a:t>
                </a:r>
                <a:r>
                  <a:rPr sz="1200" b="0" i="0" dirty="0">
                    <a:solidFill>
                      <a:srgbClr val="1E293B"/>
                    </a:solidFill>
                  </a:rPr>
                  <a:t> strongest atypicality signal</a:t>
                </a: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42D1FD1F-30DE-7877-C9AD-CBB6A1326A7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62463" y="3969240"/>
                <a:ext cx="5613380" cy="457200"/>
              </a:xfrm>
              <a:prstGeom prst="rect">
                <a:avLst/>
              </a:prstGeom>
              <a:solidFill>
                <a:srgbClr val="FFF5F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09" name="TextBox 50">
                <a:extLst>
                  <a:ext uri="{FF2B5EF4-FFF2-40B4-BE49-F238E27FC236}">
                    <a16:creationId xmlns:a16="http://schemas.microsoft.com/office/drawing/2014/main" id="{5D22A7C3-90B2-D8B7-3720-BEA197478C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2846" y="4014960"/>
                <a:ext cx="557299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00" b="0" i="0" dirty="0">
                    <a:solidFill>
                      <a:srgbClr val="1E293B"/>
                    </a:solidFill>
                  </a:rPr>
                  <a:t>Persistent downward head posture; near-static in Scenario C</a:t>
                </a:r>
                <a:r>
                  <a:rPr lang="en-US" sz="1200" b="0" i="0" dirty="0">
                    <a:solidFill>
                      <a:srgbClr val="1E293B"/>
                    </a:solidFill>
                  </a:rPr>
                  <a:t>, </a:t>
                </a:r>
                <a:r>
                  <a:rPr sz="1200" b="0" i="0" dirty="0">
                    <a:solidFill>
                      <a:srgbClr val="1E293B"/>
                    </a:solidFill>
                  </a:rPr>
                  <a:t>second strongest signal</a:t>
                </a: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421CE1AC-8536-3038-F54B-F9FF24C624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62463" y="4472160"/>
                <a:ext cx="5613380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19" name="TextBox 60">
                <a:extLst>
                  <a:ext uri="{FF2B5EF4-FFF2-40B4-BE49-F238E27FC236}">
                    <a16:creationId xmlns:a16="http://schemas.microsoft.com/office/drawing/2014/main" id="{A3425947-FABC-58B4-878C-E3731F106B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2846" y="4517880"/>
                <a:ext cx="5572996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00" b="0" i="0">
                    <a:solidFill>
                      <a:srgbClr val="1E293B"/>
                    </a:solidFill>
                  </a:rPr>
                  <a:t>Normative reference: balanced, systematic exploration across all scenarios</a:t>
                </a: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307AB169-B3A3-9459-F2D9-E3D3F3C9A33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62463" y="4975080"/>
                <a:ext cx="5613380" cy="457200"/>
              </a:xfrm>
              <a:prstGeom prst="rect">
                <a:avLst/>
              </a:prstGeom>
              <a:solidFill>
                <a:srgbClr val="F0F8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29" name="TextBox 70">
                <a:extLst>
                  <a:ext uri="{FF2B5EF4-FFF2-40B4-BE49-F238E27FC236}">
                    <a16:creationId xmlns:a16="http://schemas.microsoft.com/office/drawing/2014/main" id="{30F4BEE6-E9EF-9804-641E-2C669F8696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2846" y="5020800"/>
                <a:ext cx="5572996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00" b="0" i="0">
                    <a:solidFill>
                      <a:srgbClr val="1E293B"/>
                    </a:solidFill>
                  </a:rPr>
                  <a:t>Exceptional movement energy misread as impairment; high engagement, not restriction</a:t>
                </a: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F5A873B3-CE85-E52E-56DC-736E93C724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62463" y="5478000"/>
                <a:ext cx="5613380" cy="457200"/>
              </a:xfrm>
              <a:prstGeom prst="rect">
                <a:avLst/>
              </a:prstGeom>
              <a:solidFill>
                <a:srgbClr val="F0F8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39" name="TextBox 80">
                <a:extLst>
                  <a:ext uri="{FF2B5EF4-FFF2-40B4-BE49-F238E27FC236}">
                    <a16:creationId xmlns:a16="http://schemas.microsoft.com/office/drawing/2014/main" id="{283BD35F-5373-7BA5-50AD-DC0FCC62C0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2846" y="5523720"/>
                <a:ext cx="5572996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00" b="0" i="0" dirty="0">
                    <a:solidFill>
                      <a:srgbClr val="1E293B"/>
                    </a:solidFill>
                  </a:rPr>
                  <a:t>Maximum behavioral range across scenarios creates unusually wide kinematic variance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0360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CCB40-3897-5D41-BE06-D3C7849BA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219199"/>
            <a:ext cx="9753600" cy="574145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ro-RO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&amp; Conclusions</a:t>
            </a:r>
            <a:endParaRPr lang="ro-RO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E2A14B-B800-03C2-1AFC-69D9B4AD6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198" y="2438399"/>
            <a:ext cx="4800601" cy="3738563"/>
          </a:xfr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We Demonstrated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ro-RO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PCA + K-means pipeline detects all disabled participants</a:t>
            </a:r>
          </a:p>
          <a:p>
            <a:r>
              <a:rPr lang="ro-R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Composite atypicality score separates impaired vs. typical cohort</a:t>
            </a:r>
          </a:p>
          <a:p>
            <a:r>
              <a:rPr lang="ro-R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C (controller) is most sensitive for detecting limitations</a:t>
            </a:r>
          </a:p>
          <a:p>
            <a:r>
              <a:rPr lang="ro-R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VR-based screening is non-intrusive, engaging, and scalable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8DF9073-354B-EC70-34FA-E2F9FCEAA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4800600" cy="3738563"/>
          </a:xfr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Directions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ro-RO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Secondary interpretive layer to distinguish engagement-driven vs. restriction-driven atypicality</a:t>
            </a:r>
          </a:p>
          <a:p>
            <a:r>
              <a:rPr lang="ro-R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dataset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ro-R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more participants, broader disability types</a:t>
            </a:r>
          </a:p>
          <a:p>
            <a:r>
              <a:rPr lang="ro-R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Incorporate supervised learning for higher specificity</a:t>
            </a:r>
          </a:p>
          <a:p>
            <a:r>
              <a:rPr lang="ro-R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to cognitive and sensory disabilities</a:t>
            </a:r>
          </a:p>
          <a:p>
            <a:r>
              <a:rPr lang="ro-R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Longitudinal tracking: monitor patient progress over time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4471F-7F4C-97D7-3C1E-8474F498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9199" y="6356350"/>
            <a:ext cx="979991" cy="33381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0E1C2BF-5D31-4AFD-97FD-FEF3E2D992C7}" type="datetime1">
              <a:rPr lang="en-US" smtClean="0"/>
              <a:pPr>
                <a:spcAft>
                  <a:spcPts val="600"/>
                </a:spcAft>
              </a:pPr>
              <a:t>5/20/2026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A1BD76F2-83D3-117C-5EE1-097A45293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03506" y="6477000"/>
            <a:ext cx="5421294" cy="213167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Fifth Serbian International Conference on Applied Artificial Intelligence </a:t>
            </a:r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A46CDC-F7B1-CEF8-2289-44A5A5CADC32}"/>
              </a:ext>
            </a:extLst>
          </p:cNvPr>
          <p:cNvSpPr/>
          <p:nvPr/>
        </p:nvSpPr>
        <p:spPr>
          <a:xfrm>
            <a:off x="1219197" y="1760271"/>
            <a:ext cx="9812869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8770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71193-B5DD-6738-85F7-9C472A4B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F81E1-ADEA-4A61-8960-B9776704775B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5AFDF-42C1-CE78-4125-9BFC144B4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773" y="6501784"/>
            <a:ext cx="5048761" cy="18838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Fifth Serbian International Conference on Applied Artificial Intelligence 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B590B4-CC5E-4388-2EE3-4C6BCDAD8DD4}"/>
              </a:ext>
            </a:extLst>
          </p:cNvPr>
          <p:cNvSpPr txBox="1"/>
          <p:nvPr/>
        </p:nvSpPr>
        <p:spPr>
          <a:xfrm>
            <a:off x="3831166" y="2782669"/>
            <a:ext cx="452966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9512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819F6B72AC184BA168885D78A177F2" ma:contentTypeVersion="10" ma:contentTypeDescription="Create a new document." ma:contentTypeScope="" ma:versionID="0b94aede3a0153bbbc86b5dbefe9366b">
  <xsd:schema xmlns:xsd="http://www.w3.org/2001/XMLSchema" xmlns:xs="http://www.w3.org/2001/XMLSchema" xmlns:p="http://schemas.microsoft.com/office/2006/metadata/properties" xmlns:ns2="81922852-df4a-4857-908e-40b478b51085" xmlns:ns3="6e8e2b85-36a7-4e80-990e-1e00da42c1bc" targetNamespace="http://schemas.microsoft.com/office/2006/metadata/properties" ma:root="true" ma:fieldsID="33598b2429fb8539a689b1c20a5ba83b" ns2:_="" ns3:_="">
    <xsd:import namespace="81922852-df4a-4857-908e-40b478b51085"/>
    <xsd:import namespace="6e8e2b85-36a7-4e80-990e-1e00da42c1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22852-df4a-4857-908e-40b478b510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5cfaefc4-c9f4-4919-b81d-493f6af8f2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8e2b85-36a7-4e80-990e-1e00da42c1bc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9f91bf9-a3e8-4acc-b5a7-106905ea1399}" ma:internalName="TaxCatchAll" ma:showField="CatchAllData" ma:web="6e8e2b85-36a7-4e80-990e-1e00da42c1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922852-df4a-4857-908e-40b478b51085">
      <Terms xmlns="http://schemas.microsoft.com/office/infopath/2007/PartnerControls"/>
    </lcf76f155ced4ddcb4097134ff3c332f>
    <TaxCatchAll xmlns="6e8e2b85-36a7-4e80-990e-1e00da42c1bc" xsi:nil="true"/>
  </documentManagement>
</p:properties>
</file>

<file path=customXml/itemProps1.xml><?xml version="1.0" encoding="utf-8"?>
<ds:datastoreItem xmlns:ds="http://schemas.openxmlformats.org/officeDocument/2006/customXml" ds:itemID="{AB8F20E3-4CE2-49B9-A3D7-9AD2636B7E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922852-df4a-4857-908e-40b478b51085"/>
    <ds:schemaRef ds:uri="6e8e2b85-36a7-4e80-990e-1e00da42c1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05D735-2A05-4F54-AB19-6F600DCEF6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8B7B73-86B2-4AB8-8A6A-93B0F8677746}">
  <ds:schemaRefs>
    <ds:schemaRef ds:uri="http://schemas.microsoft.com/office/2006/metadata/properties"/>
    <ds:schemaRef ds:uri="http://schemas.microsoft.com/office/infopath/2007/PartnerControls"/>
    <ds:schemaRef ds:uri="81922852-df4a-4857-908e-40b478b51085"/>
    <ds:schemaRef ds:uri="6e8e2b85-36a7-4e80-990e-1e00da42c1b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1020</Words>
  <Application>Microsoft Office PowerPoint</Application>
  <PresentationFormat>Widescreen</PresentationFormat>
  <Paragraphs>161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What does Unsupervised ML say? Clustering Virtual Reality Behavior for Typical and Physically Disabled Persons</vt:lpstr>
      <vt:lpstr>Introduction</vt:lpstr>
      <vt:lpstr>Related Work </vt:lpstr>
      <vt:lpstr>Dataset &amp; Methodology</vt:lpstr>
      <vt:lpstr>State of the Art – Our Approach</vt:lpstr>
      <vt:lpstr>State of the Art – Our Approach</vt:lpstr>
      <vt:lpstr>Visual Analysis - Approach 2</vt:lpstr>
      <vt:lpstr>Results</vt:lpstr>
      <vt:lpstr>Future Work &amp; 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Adina Magda FLOREA (23363)</dc:creator>
  <cp:lastModifiedBy>Kriszta Soos</cp:lastModifiedBy>
  <cp:revision>18</cp:revision>
  <dcterms:created xsi:type="dcterms:W3CDTF">2025-04-09T18:01:22Z</dcterms:created>
  <dcterms:modified xsi:type="dcterms:W3CDTF">2026-05-20T17:29:42Z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0x0101005A819F6B72AC184BA168885D78A177F2</vt:lpwstr>
  </property>
</Properties>
</file>